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58" r:id="rId6"/>
    <p:sldId id="263" r:id="rId7"/>
    <p:sldId id="260" r:id="rId8"/>
    <p:sldId id="262" r:id="rId9"/>
  </p:sldIdLst>
  <p:sldSz cx="18288000" cy="10287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layfair Display Bold" pitchFamily="2" charset="7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4591" autoAdjust="0"/>
  </p:normalViewPr>
  <p:slideViewPr>
    <p:cSldViewPr>
      <p:cViewPr varScale="1">
        <p:scale>
          <a:sx n="79" d="100"/>
          <a:sy n="79" d="100"/>
        </p:scale>
        <p:origin x="60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0953998" y="1871849"/>
            <a:ext cx="8229600" cy="6363198"/>
            <a:chOff x="0" y="0"/>
            <a:chExt cx="2167467" cy="2091429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2091429"/>
            </a:xfrm>
            <a:custGeom>
              <a:avLst/>
              <a:gdLst/>
              <a:ahLst/>
              <a:cxnLst/>
              <a:rect l="l" t="t" r="r" b="b"/>
              <a:pathLst>
                <a:path w="2167467" h="2091429">
                  <a:moveTo>
                    <a:pt x="0" y="0"/>
                  </a:moveTo>
                  <a:lnTo>
                    <a:pt x="2167467" y="0"/>
                  </a:lnTo>
                  <a:lnTo>
                    <a:pt x="2167467" y="2091429"/>
                  </a:lnTo>
                  <a:lnTo>
                    <a:pt x="0" y="209142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67467" cy="212952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5855" y="2616885"/>
            <a:ext cx="12839392" cy="243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7"/>
              </a:lnSpc>
            </a:pPr>
            <a:r>
              <a:rPr lang="fr-FR" sz="80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AUDIGU – Lecteur Audio MP3/FLAC en python</a:t>
            </a:r>
            <a:endParaRPr lang="en-US" sz="7751" b="1" dirty="0">
              <a:solidFill>
                <a:srgbClr val="000000"/>
              </a:solidFill>
              <a:latin typeface="Playfair Display" pitchFamily="2" charset="77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0" y="7346493"/>
            <a:ext cx="10363200" cy="408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Dania </a:t>
            </a:r>
            <a:r>
              <a:rPr lang="en-US" sz="2800" b="1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HAMITOUCHE</a:t>
            </a:r>
            <a:r>
              <a:rPr lang="en-US" sz="28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Siaka </a:t>
            </a:r>
            <a:r>
              <a:rPr lang="fr-FR" sz="28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DOSSO,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Mathéo </a:t>
            </a:r>
            <a:r>
              <a:rPr lang="fr-FR" sz="28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OLEVIER</a:t>
            </a:r>
            <a:endParaRPr lang="en-US" sz="2800" dirty="0">
              <a:solidFill>
                <a:srgbClr val="000000"/>
              </a:solidFill>
              <a:latin typeface="Playfair Display" pitchFamily="2" charset="77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-428690" y="6642123"/>
            <a:ext cx="12039599" cy="554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Projet</a:t>
            </a:r>
            <a:r>
              <a:rPr lang="en-US" sz="32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universitaire</a:t>
            </a:r>
            <a:r>
              <a:rPr lang="en-US" sz="32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fr-FR" sz="32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L3 Informatique – Groupe B3</a:t>
            </a:r>
            <a:r>
              <a:rPr lang="en-US" sz="3200" dirty="0">
                <a:solidFill>
                  <a:srgbClr val="000000"/>
                </a:solidFill>
                <a:latin typeface="Playfair Display" pitchFamily="2" charset="77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layfair Display" pitchFamily="2" charset="77"/>
                <a:ea typeface="Playfair Display"/>
                <a:cs typeface="Playfair Display"/>
                <a:sym typeface="Playfair Display"/>
              </a:rPr>
              <a:t>réalisé</a:t>
            </a:r>
            <a:r>
              <a:rPr lang="en-US" sz="3200" dirty="0">
                <a:solidFill>
                  <a:srgbClr val="000000"/>
                </a:solidFill>
                <a:latin typeface="Playfair Display" pitchFamily="2" charset="77"/>
                <a:ea typeface="Playfair Display"/>
                <a:cs typeface="Playfair Display"/>
                <a:sym typeface="Playfair Display"/>
              </a:rPr>
              <a:t> par </a:t>
            </a:r>
            <a:r>
              <a:rPr lang="en-US" sz="3200" dirty="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</a:t>
            </a:r>
          </a:p>
        </p:txBody>
      </p:sp>
      <p:pic>
        <p:nvPicPr>
          <p:cNvPr id="18" name="Image 17" descr="Une image contenant clipart, symbole, Graphique, dessin humoristique&#10;&#10;Description générée automatiquement">
            <a:extLst>
              <a:ext uri="{FF2B5EF4-FFF2-40B4-BE49-F238E27FC236}">
                <a16:creationId xmlns:a16="http://schemas.microsoft.com/office/drawing/2014/main" id="{9DBE3747-4617-40ED-917A-AF30FF169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619" y="2867461"/>
            <a:ext cx="7772400" cy="4371975"/>
          </a:xfrm>
          <a:prstGeom prst="rect">
            <a:avLst/>
          </a:prstGeom>
        </p:spPr>
      </p:pic>
      <p:pic>
        <p:nvPicPr>
          <p:cNvPr id="20" name="Image 19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85B10FEB-7B51-74FF-E82A-4922896B0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  <a:noFill/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33134734-FBB8-B66D-D03B-052FDFE9F22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1 										2025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E43A6048-2CD9-CD29-600A-9E5ED858AB14}"/>
              </a:ext>
            </a:extLst>
          </p:cNvPr>
          <p:cNvGrpSpPr/>
          <p:nvPr/>
        </p:nvGrpSpPr>
        <p:grpSpPr>
          <a:xfrm>
            <a:off x="295854" y="5143500"/>
            <a:ext cx="11210345" cy="45719"/>
            <a:chOff x="0" y="0"/>
            <a:chExt cx="1695822" cy="2627348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9411B284-EA16-F36F-3B3F-356861ACD667}"/>
                </a:ext>
              </a:extLst>
            </p:cNvPr>
            <p:cNvSpPr/>
            <p:nvPr/>
          </p:nvSpPr>
          <p:spPr>
            <a:xfrm>
              <a:off x="0" y="0"/>
              <a:ext cx="1695822" cy="2627348"/>
            </a:xfrm>
            <a:custGeom>
              <a:avLst/>
              <a:gdLst/>
              <a:ahLst/>
              <a:cxnLst/>
              <a:rect l="l" t="t" r="r" b="b"/>
              <a:pathLst>
                <a:path w="1695822" h="2627348">
                  <a:moveTo>
                    <a:pt x="0" y="0"/>
                  </a:moveTo>
                  <a:lnTo>
                    <a:pt x="1695822" y="0"/>
                  </a:lnTo>
                  <a:lnTo>
                    <a:pt x="1695822" y="2627348"/>
                  </a:lnTo>
                  <a:lnTo>
                    <a:pt x="0" y="2627348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65493F37-378B-A2B4-E5E1-CA26DF99D7C5}"/>
                </a:ext>
              </a:extLst>
            </p:cNvPr>
            <p:cNvSpPr txBox="1"/>
            <p:nvPr/>
          </p:nvSpPr>
          <p:spPr>
            <a:xfrm>
              <a:off x="0" y="-38100"/>
              <a:ext cx="1695822" cy="266544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4BC398ED-F92A-FD87-E63D-97D9B3BABD93}"/>
              </a:ext>
            </a:extLst>
          </p:cNvPr>
          <p:cNvSpPr txBox="1"/>
          <p:nvPr/>
        </p:nvSpPr>
        <p:spPr>
          <a:xfrm>
            <a:off x="-10886" y="7786445"/>
            <a:ext cx="50032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Encadré par : </a:t>
            </a:r>
          </a:p>
          <a:p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	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M. </a:t>
            </a:r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Jean Luc </a:t>
            </a:r>
            <a:r>
              <a:rPr lang="fr-FR" sz="2800" b="1" dirty="0">
                <a:solidFill>
                  <a:srgbClr val="000000"/>
                </a:solidFill>
                <a:latin typeface="Playfair Display" pitchFamily="2" charset="77"/>
              </a:rPr>
              <a:t>BOURDON</a:t>
            </a:r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 </a:t>
            </a:r>
            <a:endParaRPr lang="fr-FR" sz="2800" dirty="0">
              <a:latin typeface="Playfair Display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050457" y="1182458"/>
            <a:ext cx="8237543" cy="360449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585374" y="1928959"/>
            <a:ext cx="15221381" cy="6856358"/>
            <a:chOff x="0" y="-21105"/>
            <a:chExt cx="2306660" cy="924548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9" name="TextBox 9"/>
            <p:cNvSpPr txBox="1">
              <a:spLocks/>
            </p:cNvSpPr>
            <p:nvPr/>
          </p:nvSpPr>
          <p:spPr>
            <a:xfrm>
              <a:off x="0" y="-21105"/>
              <a:ext cx="2306660" cy="9034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38100"/>
              <a:ext cx="2306660" cy="865343"/>
            </a:xfrm>
            <a:custGeom>
              <a:avLst/>
              <a:gdLst/>
              <a:ahLst/>
              <a:cxnLst/>
              <a:rect l="l" t="t" r="r" b="b"/>
              <a:pathLst>
                <a:path w="2306660" h="865343">
                  <a:moveTo>
                    <a:pt x="0" y="0"/>
                  </a:moveTo>
                  <a:lnTo>
                    <a:pt x="2306660" y="0"/>
                  </a:lnTo>
                  <a:lnTo>
                    <a:pt x="2306660" y="865343"/>
                  </a:lnTo>
                  <a:lnTo>
                    <a:pt x="0" y="86534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02057" y="2303691"/>
            <a:ext cx="14229886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FR" sz="2800" b="1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Dania</a:t>
            </a:r>
            <a:r>
              <a:rPr lang="fr-FR" sz="28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HAMITOUCHE</a:t>
            </a: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Développement du mode CLI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Développement du module </a:t>
            </a:r>
            <a:r>
              <a:rPr lang="fr-FR" sz="2800" dirty="0" err="1">
                <a:solidFill>
                  <a:srgbClr val="000000"/>
                </a:solidFill>
                <a:latin typeface="Playfair Display" pitchFamily="2" charset="77"/>
              </a:rPr>
              <a:t>lecture_playlist</a:t>
            </a: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Contrôles de lecture et gestion playlists en console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FR" sz="28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Siaka DOSSO</a:t>
            </a: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Développement complet de l’interface graphique (</a:t>
            </a:r>
            <a:r>
              <a:rPr lang="fr-FR" sz="2800" b="0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Tkinter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)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Intégration du mode sombre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Développement d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es modules dans </a:t>
            </a:r>
            <a:r>
              <a:rPr lang="fr-FR" sz="2800" b="0" i="1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library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(métadonnées, playlists, API…)</a:t>
            </a:r>
          </a:p>
          <a:p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fr-FR" sz="2800" b="1" i="0" u="none" strike="noStrike">
                <a:solidFill>
                  <a:srgbClr val="000000"/>
                </a:solidFill>
                <a:effectLst/>
                <a:latin typeface="Playfair Display" pitchFamily="2" charset="77"/>
              </a:rPr>
              <a:t>Mathéo OLEVIER</a:t>
            </a: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Extraction/édition des tags MP3/FLAC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Intégration dra</a:t>
            </a:r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g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and drop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Intégration des APIs </a:t>
            </a:r>
            <a:r>
              <a:rPr lang="fr-FR" sz="2800" b="0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Jamendo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(musique) et LRCLIB (paroles)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5080" y="730775"/>
            <a:ext cx="8921971" cy="1051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Répartition</a:t>
            </a:r>
            <a:r>
              <a:rPr lang="en-US" sz="6399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des </a:t>
            </a:r>
            <a:r>
              <a:rPr lang="en-US" sz="6399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tâches</a:t>
            </a:r>
            <a:endParaRPr lang="en-US" sz="6399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A261467-209C-4634-7EEE-DFB908F32848}"/>
              </a:ext>
            </a:extLst>
          </p:cNvPr>
          <p:cNvSpPr txBox="1"/>
          <p:nvPr/>
        </p:nvSpPr>
        <p:spPr>
          <a:xfrm>
            <a:off x="152400" y="9669008"/>
            <a:ext cx="177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																		</a:t>
            </a:r>
            <a:endParaRPr lang="fr-FR" sz="20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AF003D6-3F6B-15F1-6F72-FA5E5BB5A0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2										2025</a:t>
            </a:r>
          </a:p>
        </p:txBody>
      </p:sp>
      <p:pic>
        <p:nvPicPr>
          <p:cNvPr id="15" name="Image 14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E267A4E7-14BB-3181-8069-85B6CCF70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0313084F-8723-035F-75B6-86D753579A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3										2025</a:t>
            </a:r>
          </a:p>
        </p:txBody>
      </p:sp>
      <p:pic>
        <p:nvPicPr>
          <p:cNvPr id="21" name="Image 20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89D8F344-1D4F-98C7-CC63-A11143E45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2C4D8A47-8CF2-C8C4-BC73-7EE792374E88}"/>
              </a:ext>
            </a:extLst>
          </p:cNvPr>
          <p:cNvSpPr txBox="1"/>
          <p:nvPr/>
        </p:nvSpPr>
        <p:spPr>
          <a:xfrm>
            <a:off x="1409700" y="1855509"/>
            <a:ext cx="15468600" cy="74447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75893" lvl="1" algn="l">
              <a:lnSpc>
                <a:spcPts val="3578"/>
              </a:lnSpc>
            </a:pPr>
            <a:endParaRPr lang="en-US" sz="2800" b="1" dirty="0">
              <a:solidFill>
                <a:srgbClr val="000000"/>
              </a:solidFill>
              <a:latin typeface="Playfair Display" pitchFamily="2" charset="77"/>
              <a:ea typeface="Playfair Display Bold"/>
              <a:cs typeface="Playfair Display Bold"/>
              <a:sym typeface="Playfair Display Bold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Lecture de fichiers audio en CLI et GUI</a:t>
            </a:r>
          </a:p>
          <a:p>
            <a:pPr marL="275893" lvl="1" algn="l">
              <a:lnSpc>
                <a:spcPts val="3578"/>
              </a:lnSpc>
            </a:pP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Extraction et modification des métadonnées (titre, artiste, album, année, genre, cover)</a:t>
            </a:r>
          </a:p>
          <a:p>
            <a:pPr marL="275893" lvl="1">
              <a:lnSpc>
                <a:spcPts val="3578"/>
              </a:lnSpc>
            </a:pP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Navigation dans la playlist (suivant / précédent)</a:t>
            </a:r>
          </a:p>
          <a:p>
            <a:pPr marL="275893" lvl="1" algn="l">
              <a:lnSpc>
                <a:spcPts val="3578"/>
              </a:lnSpc>
            </a:pP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Génération et lecture de playlists </a:t>
            </a:r>
            <a:r>
              <a:rPr lang="fr-FR" sz="28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XSPF valides</a:t>
            </a:r>
          </a:p>
          <a:p>
            <a:pPr marL="275893" lvl="1" algn="l">
              <a:lnSpc>
                <a:spcPts val="3578"/>
              </a:lnSpc>
            </a:pPr>
            <a:endParaRPr lang="fr-FR" sz="2800" b="1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Interface graphique fonctionnelle et intuitive</a:t>
            </a:r>
          </a:p>
          <a:p>
            <a:pPr marL="275893" lvl="1" algn="l">
              <a:lnSpc>
                <a:spcPts val="3578"/>
              </a:lnSpc>
            </a:pP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Recherche musicale via API + récupération paroles</a:t>
            </a:r>
          </a:p>
          <a:p>
            <a:pPr marL="275893" lvl="1" algn="l">
              <a:lnSpc>
                <a:spcPts val="3578"/>
              </a:lnSpc>
            </a:pP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Drag </a:t>
            </a:r>
            <a:r>
              <a:rPr lang="fr-FR" sz="2800" dirty="0">
                <a:solidFill>
                  <a:srgbClr val="000000"/>
                </a:solidFill>
                <a:latin typeface="Playfair Display" pitchFamily="2" charset="77"/>
              </a:rPr>
              <a:t>and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Drop de fichiers dans la playlist</a:t>
            </a:r>
          </a:p>
          <a:p>
            <a:pPr marL="275893" lvl="1" algn="l">
              <a:lnSpc>
                <a:spcPts val="3578"/>
              </a:lnSpc>
            </a:pP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733093" lvl="1" indent="-457200" algn="l">
              <a:lnSpc>
                <a:spcPts val="3578"/>
              </a:lnSpc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</a:t>
            </a:r>
            <a:r>
              <a:rPr lang="fr-FR" sz="28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Mode sombre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intégré (personnalisation visuelle)</a:t>
            </a:r>
            <a:endParaRPr lang="en-US" sz="2800" b="1" dirty="0">
              <a:solidFill>
                <a:srgbClr val="000000"/>
              </a:solidFill>
              <a:latin typeface="Playfair Display" pitchFamily="2" charset="77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25B28CD8-EB5F-0D5D-0C86-BFE3EF65732E}"/>
              </a:ext>
            </a:extLst>
          </p:cNvPr>
          <p:cNvSpPr txBox="1"/>
          <p:nvPr/>
        </p:nvSpPr>
        <p:spPr>
          <a:xfrm>
            <a:off x="5957566" y="706284"/>
            <a:ext cx="6477000" cy="114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600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réalisations</a:t>
            </a:r>
            <a:r>
              <a:rPr lang="en-US" sz="66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6600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clés</a:t>
            </a:r>
            <a:endParaRPr lang="en-US" sz="660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00156E1-67A0-C076-3B5D-58DE8D8FDA47}"/>
              </a:ext>
            </a:extLst>
          </p:cNvPr>
          <p:cNvSpPr txBox="1"/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4										2025</a:t>
            </a:r>
          </a:p>
        </p:txBody>
      </p:sp>
      <p:pic>
        <p:nvPicPr>
          <p:cNvPr id="3" name="Image 2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6A996509-76FF-2CFA-472D-0CC98F96C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46F436C-37CA-1E8D-7145-5B32BB785D51}"/>
              </a:ext>
            </a:extLst>
          </p:cNvPr>
          <p:cNvSpPr txBox="1"/>
          <p:nvPr/>
        </p:nvSpPr>
        <p:spPr>
          <a:xfrm>
            <a:off x="1258969" y="1079347"/>
            <a:ext cx="17145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0" b="1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Architecture générale et choix de conception</a:t>
            </a:r>
            <a:endParaRPr lang="fr-FR" sz="6000" b="1" dirty="0">
              <a:latin typeface="Playfair Display" pitchFamily="2" charset="77"/>
            </a:endParaRPr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D3293A77-D8DD-E46C-9653-2BB0BE863D80}"/>
              </a:ext>
            </a:extLst>
          </p:cNvPr>
          <p:cNvGrpSpPr/>
          <p:nvPr/>
        </p:nvGrpSpPr>
        <p:grpSpPr>
          <a:xfrm>
            <a:off x="728398" y="2379957"/>
            <a:ext cx="16831204" cy="6827696"/>
            <a:chOff x="0" y="0"/>
            <a:chExt cx="2306660" cy="865343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B4B6A5CB-0CEB-BA83-5F1F-6F754FF73A26}"/>
                </a:ext>
              </a:extLst>
            </p:cNvPr>
            <p:cNvSpPr/>
            <p:nvPr/>
          </p:nvSpPr>
          <p:spPr>
            <a:xfrm>
              <a:off x="0" y="0"/>
              <a:ext cx="2306660" cy="865343"/>
            </a:xfrm>
            <a:custGeom>
              <a:avLst/>
              <a:gdLst/>
              <a:ahLst/>
              <a:cxnLst/>
              <a:rect l="l" t="t" r="r" b="b"/>
              <a:pathLst>
                <a:path w="2306660" h="865343">
                  <a:moveTo>
                    <a:pt x="0" y="0"/>
                  </a:moveTo>
                  <a:lnTo>
                    <a:pt x="2306660" y="0"/>
                  </a:lnTo>
                  <a:lnTo>
                    <a:pt x="2306660" y="865343"/>
                  </a:lnTo>
                  <a:lnTo>
                    <a:pt x="0" y="86534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088930F9-D979-9961-E360-069770A96FE8}"/>
                </a:ext>
              </a:extLst>
            </p:cNvPr>
            <p:cNvSpPr txBox="1"/>
            <p:nvPr/>
          </p:nvSpPr>
          <p:spPr>
            <a:xfrm>
              <a:off x="0" y="-38100"/>
              <a:ext cx="2306660" cy="9034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B2787C68-810F-3213-8A6E-6CC85DE151BF}"/>
              </a:ext>
            </a:extLst>
          </p:cNvPr>
          <p:cNvSpPr txBox="1"/>
          <p:nvPr/>
        </p:nvSpPr>
        <p:spPr>
          <a:xfrm>
            <a:off x="914400" y="2613781"/>
            <a:ext cx="1554479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Projet structuré en modules indépendants : lecture audio, métadonnées, playlists, API, GUI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Séparation logique :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fr-FR" sz="2800" b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library</a:t>
            </a:r>
            <a:r>
              <a:rPr lang="fr-FR" sz="2800" b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/ 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:  logique métier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fr-FR" sz="2800" b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cli.py</a:t>
            </a:r>
            <a:r>
              <a:rPr lang="fr-FR" sz="2800" b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/ </a:t>
            </a:r>
            <a:r>
              <a:rPr lang="fr-FR" sz="2800" b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gui.py</a:t>
            </a:r>
            <a:r>
              <a:rPr lang="fr-FR" sz="2800" b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 : 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interface utilisateur</a:t>
            </a:r>
          </a:p>
          <a:p>
            <a:pPr lvl="1"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Approche orientée objet  classes simples, spécialisées, réutilisables 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Architecture modulaire permettant :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maintenance facile : </a:t>
            </a:r>
            <a:r>
              <a:rPr lang="en-US" sz="2800" spc="15" dirty="0" err="1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chaque</a:t>
            </a:r>
            <a:r>
              <a:rPr lang="en-US" sz="2800" spc="15" dirty="0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2800" spc="15" dirty="0" err="1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classe</a:t>
            </a:r>
            <a:r>
              <a:rPr lang="en-US" sz="2800" spc="15" dirty="0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 a </a:t>
            </a:r>
            <a:r>
              <a:rPr lang="en-US" sz="2800" spc="15" dirty="0" err="1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une</a:t>
            </a:r>
            <a:r>
              <a:rPr lang="en-US" sz="2800" spc="15" dirty="0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2800" spc="15" dirty="0" err="1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responsabilité</a:t>
            </a:r>
            <a:r>
              <a:rPr lang="en-US" sz="2800" spc="15" dirty="0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 unique</a:t>
            </a:r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sz="2800" spc="15" dirty="0" err="1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Extensibilité</a:t>
            </a:r>
            <a:r>
              <a:rPr lang="en-US" sz="2800" spc="15" dirty="0">
                <a:solidFill>
                  <a:srgbClr val="000000"/>
                </a:solidFill>
                <a:latin typeface="Playfair Display" pitchFamily="2" charset="77"/>
                <a:ea typeface="Playfair Display Bold"/>
                <a:cs typeface="Playfair Display Bold"/>
                <a:sym typeface="Playfair Display Bold"/>
              </a:rPr>
              <a:t>: 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ajout de nouvelles fonctionnalités</a:t>
            </a: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tests unitaires simplifiés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latin typeface="Playfair Displ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3993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4">
            <a:extLst>
              <a:ext uri="{FF2B5EF4-FFF2-40B4-BE49-F238E27FC236}">
                <a16:creationId xmlns:a16="http://schemas.microsoft.com/office/drawing/2014/main" id="{30F45EF1-05A8-CC26-81FD-6D7663D79100}"/>
              </a:ext>
            </a:extLst>
          </p:cNvPr>
          <p:cNvSpPr txBox="1"/>
          <p:nvPr/>
        </p:nvSpPr>
        <p:spPr>
          <a:xfrm rot="5400000">
            <a:off x="1895924" y="650803"/>
            <a:ext cx="5924629" cy="93091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33400" y="1048492"/>
            <a:ext cx="9348894" cy="1051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Spécificités</a:t>
            </a:r>
            <a:r>
              <a:rPr lang="en-US" sz="6399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techniques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" y="2725912"/>
            <a:ext cx="9309170" cy="4295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Lecture audio : </a:t>
            </a:r>
            <a:r>
              <a:rPr lang="fr-FR" sz="2800" b="0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pygame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(gestion non bloquante)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Métadonnées : </a:t>
            </a:r>
            <a:r>
              <a:rPr lang="fr-FR" sz="2800" b="0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mutagen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 (compatibilité MP3/FLAC)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Playlists : format XSPF (XML standardisé)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Interface : CLI + GUI (</a:t>
            </a:r>
            <a:r>
              <a:rPr lang="fr-FR" sz="2800" b="0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Tkinter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)</a:t>
            </a:r>
          </a:p>
          <a:p>
            <a:pPr algn="l"/>
            <a:endParaRPr lang="fr-FR" sz="2800" b="0" i="0" u="none" strike="noStrike" dirty="0">
              <a:solidFill>
                <a:srgbClr val="000000"/>
              </a:solidFill>
              <a:effectLst/>
              <a:latin typeface="Playfair Display" pitchFamily="2" charset="7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APIs intégrées : </a:t>
            </a:r>
            <a:r>
              <a:rPr lang="fr-FR" sz="2800" b="0" i="0" u="none" strike="noStrike" dirty="0" err="1">
                <a:solidFill>
                  <a:srgbClr val="000000"/>
                </a:solidFill>
                <a:effectLst/>
                <a:latin typeface="Playfair Display" pitchFamily="2" charset="77"/>
              </a:rPr>
              <a:t>Jamendo</a:t>
            </a: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 (recherche) et LRCLIB (paroles)</a:t>
            </a:r>
          </a:p>
          <a:p>
            <a:pPr marL="503659" lvl="2" algn="just">
              <a:lnSpc>
                <a:spcPts val="3481"/>
              </a:lnSpc>
            </a:pPr>
            <a:endParaRPr lang="en-US" sz="2800" spc="15" dirty="0">
              <a:solidFill>
                <a:srgbClr val="000000"/>
              </a:solidFill>
              <a:latin typeface="Playfair Display" pitchFamily="2" charset="77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742330" y="3324406"/>
            <a:ext cx="8309273" cy="108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Problèmes</a:t>
            </a:r>
            <a:r>
              <a:rPr lang="en-US" sz="64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6400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rencontrés</a:t>
            </a:r>
            <a:endParaRPr lang="en-US" sz="6400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42330" y="4814999"/>
            <a:ext cx="974248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-252096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rPr>
              <a:t>FLAC non lu → conversion en WAV temporaire</a:t>
            </a:r>
            <a:endParaRPr lang="en-US" sz="2800" b="1" dirty="0">
              <a:solidFill>
                <a:srgbClr val="000000"/>
              </a:solidFill>
              <a:latin typeface="Playfair Display" pitchFamily="2" charset="77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7FB9CB5-8DF5-95E2-5DD8-2F88C8E5C3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5										2025</a:t>
            </a:r>
          </a:p>
        </p:txBody>
      </p:sp>
      <p:pic>
        <p:nvPicPr>
          <p:cNvPr id="11" name="Image 10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0277E261-DE18-CD04-FA56-B2E1A60E0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C13D713E-3CF1-B64D-C127-428EF31C8297}"/>
              </a:ext>
            </a:extLst>
          </p:cNvPr>
          <p:cNvSpPr/>
          <p:nvPr/>
        </p:nvSpPr>
        <p:spPr>
          <a:xfrm rot="5400000">
            <a:off x="10784070" y="1528397"/>
            <a:ext cx="6385798" cy="8258616"/>
          </a:xfrm>
          <a:custGeom>
            <a:avLst/>
            <a:gdLst/>
            <a:ahLst/>
            <a:cxnLst/>
            <a:rect l="l" t="t" r="r" b="b"/>
            <a:pathLst>
              <a:path w="1181970" h="2468960">
                <a:moveTo>
                  <a:pt x="0" y="0"/>
                </a:moveTo>
                <a:lnTo>
                  <a:pt x="1181970" y="0"/>
                </a:lnTo>
                <a:lnTo>
                  <a:pt x="1181970" y="2468960"/>
                </a:lnTo>
                <a:lnTo>
                  <a:pt x="0" y="246896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9" name="Freeform 9"/>
          <p:cNvSpPr/>
          <p:nvPr/>
        </p:nvSpPr>
        <p:spPr>
          <a:xfrm rot="5400000">
            <a:off x="1735962" y="864361"/>
            <a:ext cx="6385798" cy="9586687"/>
          </a:xfrm>
          <a:custGeom>
            <a:avLst/>
            <a:gdLst/>
            <a:ahLst/>
            <a:cxnLst/>
            <a:rect l="l" t="t" r="r" b="b"/>
            <a:pathLst>
              <a:path w="1181970" h="2468960">
                <a:moveTo>
                  <a:pt x="0" y="0"/>
                </a:moveTo>
                <a:lnTo>
                  <a:pt x="1181970" y="0"/>
                </a:lnTo>
                <a:lnTo>
                  <a:pt x="1181970" y="2468960"/>
                </a:lnTo>
                <a:lnTo>
                  <a:pt x="0" y="246896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11" name="Freeform 11"/>
          <p:cNvSpPr/>
          <p:nvPr/>
        </p:nvSpPr>
        <p:spPr>
          <a:xfrm rot="509154">
            <a:off x="9056180" y="2645143"/>
            <a:ext cx="556371" cy="782620"/>
          </a:xfrm>
          <a:custGeom>
            <a:avLst/>
            <a:gdLst/>
            <a:ahLst/>
            <a:cxnLst/>
            <a:rect l="l" t="t" r="r" b="b"/>
            <a:pathLst>
              <a:path w="556371" h="782620">
                <a:moveTo>
                  <a:pt x="0" y="0"/>
                </a:moveTo>
                <a:lnTo>
                  <a:pt x="556372" y="0"/>
                </a:lnTo>
                <a:lnTo>
                  <a:pt x="556372" y="782619"/>
                </a:lnTo>
                <a:lnTo>
                  <a:pt x="0" y="782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 rot="847898">
            <a:off x="17579348" y="2662067"/>
            <a:ext cx="254762" cy="783212"/>
          </a:xfrm>
          <a:custGeom>
            <a:avLst/>
            <a:gdLst/>
            <a:ahLst/>
            <a:cxnLst/>
            <a:rect l="l" t="t" r="r" b="b"/>
            <a:pathLst>
              <a:path w="254762" h="783212">
                <a:moveTo>
                  <a:pt x="0" y="0"/>
                </a:moveTo>
                <a:lnTo>
                  <a:pt x="254762" y="0"/>
                </a:lnTo>
                <a:lnTo>
                  <a:pt x="254762" y="783212"/>
                </a:lnTo>
                <a:lnTo>
                  <a:pt x="0" y="783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5486529" y="202494"/>
            <a:ext cx="741907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Analyse</a:t>
            </a:r>
            <a:r>
              <a:rPr lang="en-US" sz="6399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Critique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07179" y="1732100"/>
            <a:ext cx="9685168" cy="6209651"/>
            <a:chOff x="-1" y="-1098690"/>
            <a:chExt cx="12913555" cy="8279532"/>
          </a:xfrm>
        </p:grpSpPr>
        <p:sp>
          <p:nvSpPr>
            <p:cNvPr id="15" name="TextBox 15"/>
            <p:cNvSpPr txBox="1"/>
            <p:nvPr/>
          </p:nvSpPr>
          <p:spPr>
            <a:xfrm>
              <a:off x="131307" y="861165"/>
              <a:ext cx="12782247" cy="6319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Playfair Display" pitchFamily="2" charset="77"/>
                </a:rPr>
                <a:t>Interface agréable, intuitive et personnalisable</a:t>
              </a:r>
            </a:p>
            <a:p>
              <a:endParaRPr lang="fr-FR" sz="2800" dirty="0">
                <a:latin typeface="Playfair Display" pitchFamily="2" charset="7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Playfair Display" pitchFamily="2" charset="77"/>
                </a:rPr>
                <a:t>Métadonnées éditables (y compris les images de cover)</a:t>
              </a:r>
            </a:p>
            <a:p>
              <a:endParaRPr lang="fr-FR" sz="2800" dirty="0">
                <a:latin typeface="Playfair Display" pitchFamily="2" charset="7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Playfair Display" pitchFamily="2" charset="77"/>
                </a:rPr>
                <a:t>Playlists XSPF compatibles avec d’autres lecteurs</a:t>
              </a:r>
            </a:p>
            <a:p>
              <a:endParaRPr lang="fr-FR" sz="2800" dirty="0">
                <a:latin typeface="Playfair Display" pitchFamily="2" charset="7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Playfair Display" pitchFamily="2" charset="77"/>
                </a:rPr>
                <a:t>Import par glisser-déposer</a:t>
              </a:r>
            </a:p>
            <a:p>
              <a:endParaRPr lang="fr-FR" sz="2800" dirty="0">
                <a:latin typeface="Playfair Display" pitchFamily="2" charset="7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Playfair Display" pitchFamily="2" charset="77"/>
                </a:rPr>
                <a:t>Intégration d’APIs : musique + paroles</a:t>
              </a:r>
            </a:p>
            <a:p>
              <a:endParaRPr lang="fr-FR" sz="2800" dirty="0">
                <a:latin typeface="Playfair Display" pitchFamily="2" charset="77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fr-FR" sz="2800" dirty="0">
                  <a:latin typeface="Playfair Display" pitchFamily="2" charset="77"/>
                </a:rPr>
                <a:t>Mode sombre intégré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1" y="-1098690"/>
              <a:ext cx="12782248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Points forts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80039" y="1721674"/>
            <a:ext cx="8040795" cy="5200979"/>
            <a:chOff x="-219440" y="-1693603"/>
            <a:chExt cx="10721060" cy="6647885"/>
          </a:xfrm>
        </p:grpSpPr>
        <p:sp>
          <p:nvSpPr>
            <p:cNvPr id="18" name="TextBox 18"/>
            <p:cNvSpPr txBox="1"/>
            <p:nvPr/>
          </p:nvSpPr>
          <p:spPr>
            <a:xfrm>
              <a:off x="-219440" y="469526"/>
              <a:ext cx="10721060" cy="44847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endParaRPr lang="fr-FR" sz="32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endParaRPr>
            </a:p>
            <a:p>
              <a:pPr marL="457200" indent="-457200" algn="l">
                <a:buFont typeface="Arial" panose="020B0604020202020204" pitchFamily="34" charset="0"/>
                <a:buChar char="•"/>
              </a:pPr>
              <a:r>
                <a:rPr lang="fr-FR" sz="2800" dirty="0">
                  <a:solidFill>
                    <a:srgbClr val="000000"/>
                  </a:solidFill>
                  <a:latin typeface="Playfair Display" pitchFamily="2" charset="77"/>
                </a:rPr>
                <a:t>Intégration de </a:t>
              </a:r>
              <a:r>
                <a:rPr lang="fr-FR" sz="2800" b="0" i="0" u="none" strike="noStrike" dirty="0">
                  <a:solidFill>
                    <a:srgbClr val="000000"/>
                  </a:solidFill>
                  <a:effectLst/>
                  <a:latin typeface="Playfair Display" pitchFamily="2" charset="77"/>
                </a:rPr>
                <a:t> streaming continu</a:t>
              </a:r>
            </a:p>
            <a:p>
              <a:pPr marL="457200" indent="-457200" algn="l">
                <a:buFont typeface="Arial" panose="020B0604020202020204" pitchFamily="34" charset="0"/>
                <a:buChar char="•"/>
              </a:pPr>
              <a:endParaRPr lang="fr-FR" sz="2800" dirty="0">
                <a:solidFill>
                  <a:srgbClr val="000000"/>
                </a:solidFill>
                <a:latin typeface="Playfair Display" pitchFamily="2" charset="77"/>
              </a:endParaRPr>
            </a:p>
            <a:p>
              <a:pPr marL="457200" indent="-457200" algn="l">
                <a:buFont typeface="Arial" panose="020B0604020202020204" pitchFamily="34" charset="0"/>
                <a:buChar char="•"/>
              </a:pPr>
              <a:r>
                <a:rPr lang="fr-FR" sz="2800" b="0" i="0" u="none" strike="noStrike" dirty="0">
                  <a:solidFill>
                    <a:srgbClr val="000000"/>
                  </a:solidFill>
                  <a:effectLst/>
                  <a:latin typeface="Playfair Display" pitchFamily="2" charset="77"/>
                </a:rPr>
                <a:t>Renforcement de la robustesse des appels API</a:t>
              </a:r>
            </a:p>
            <a:p>
              <a:pPr algn="l"/>
              <a:endPara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endParaRPr>
            </a:p>
            <a:p>
              <a:pPr marL="457200" indent="-457200" algn="l">
                <a:buFont typeface="Arial" panose="020B0604020202020204" pitchFamily="34" charset="0"/>
                <a:buChar char="•"/>
              </a:pPr>
              <a:r>
                <a:rPr lang="fr-FR" sz="2800" b="0" i="0" u="none" strike="noStrike" dirty="0">
                  <a:solidFill>
                    <a:srgbClr val="000000"/>
                  </a:solidFill>
                  <a:effectLst/>
                  <a:latin typeface="Playfair Display" pitchFamily="2" charset="77"/>
                </a:rPr>
                <a:t>Support de nouveaux formats audio</a:t>
              </a:r>
              <a:r>
                <a:rPr lang="fr-FR" sz="2800" dirty="0">
                  <a:solidFill>
                    <a:srgbClr val="000000"/>
                  </a:solidFill>
                  <a:latin typeface="Playfair Display" pitchFamily="2" charset="77"/>
                </a:rPr>
                <a:t> (</a:t>
              </a:r>
              <a:r>
                <a:rPr lang="fr-FR" sz="2800" b="0" i="0" u="none" strike="noStrike" dirty="0">
                  <a:solidFill>
                    <a:srgbClr val="000000"/>
                  </a:solidFill>
                  <a:effectLst/>
                  <a:latin typeface="Playfair Display" pitchFamily="2" charset="77"/>
                </a:rPr>
                <a:t>AAC, OGG</a:t>
              </a:r>
              <a:r>
                <a:rPr lang="fr-FR" sz="2800" dirty="0">
                  <a:solidFill>
                    <a:srgbClr val="000000"/>
                  </a:solidFill>
                  <a:latin typeface="Playfair Display" pitchFamily="2" charset="77"/>
                </a:rPr>
                <a:t>)</a:t>
              </a:r>
            </a:p>
            <a:p>
              <a:pPr algn="l"/>
              <a:endParaRPr lang="fr-FR" sz="2800" b="0" i="0" u="none" strike="noStrike" dirty="0">
                <a:solidFill>
                  <a:srgbClr val="000000"/>
                </a:solidFill>
                <a:effectLst/>
                <a:latin typeface="Playfair Display" pitchFamily="2" charset="77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624" y="-1693603"/>
              <a:ext cx="10413996" cy="688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Extensions </a:t>
              </a:r>
              <a:r>
                <a:rPr lang="en-US" sz="3600" b="1" dirty="0" err="1">
                  <a:solidFill>
                    <a:srgbClr val="00000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possibles</a:t>
              </a:r>
              <a:endParaRPr lang="en-US" sz="3600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endParaRP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0313084F-8723-035F-75B6-86D753579A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6										2025</a:t>
            </a:r>
          </a:p>
        </p:txBody>
      </p:sp>
      <p:pic>
        <p:nvPicPr>
          <p:cNvPr id="21" name="Image 20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89D8F344-1D4F-98C7-CC63-A11143E45E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0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56867"/>
            <a:ext cx="4876801" cy="8506234"/>
            <a:chOff x="0" y="-38100"/>
            <a:chExt cx="2030395" cy="260868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120415" y="-19050"/>
              <a:ext cx="1154107" cy="2570584"/>
            </a:xfrm>
            <a:custGeom>
              <a:avLst/>
              <a:gdLst/>
              <a:ahLst/>
              <a:cxnLst/>
              <a:rect l="l" t="t" r="r" b="b"/>
              <a:pathLst>
                <a:path w="2030395" h="2570584">
                  <a:moveTo>
                    <a:pt x="0" y="0"/>
                  </a:moveTo>
                  <a:lnTo>
                    <a:pt x="2030395" y="0"/>
                  </a:lnTo>
                  <a:lnTo>
                    <a:pt x="2030395" y="2570584"/>
                  </a:lnTo>
                  <a:lnTo>
                    <a:pt x="0" y="2570584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0395" cy="26086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313527" y="2766621"/>
            <a:ext cx="12369566" cy="5690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latin typeface="Playfair Display" pitchFamily="2" charset="77"/>
              </a:rPr>
              <a:t>Projet finalisé avec succès</a:t>
            </a:r>
          </a:p>
          <a:p>
            <a:endParaRPr lang="fr-FR" sz="3200" dirty="0">
              <a:latin typeface="Playfair Display" pitchFamily="2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latin typeface="Playfair Display" pitchFamily="2" charset="77"/>
              </a:rPr>
              <a:t>Toutes les fonctionnalités principales prévues sont opérationnelles</a:t>
            </a:r>
          </a:p>
          <a:p>
            <a:endParaRPr lang="fr-FR" sz="3200" dirty="0">
              <a:latin typeface="Playfair Display" pitchFamily="2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latin typeface="Playfair Display" pitchFamily="2" charset="77"/>
              </a:rPr>
              <a:t>Cahier des charges respecté (lecture audio, métadonnées, playlists, API, GUI)</a:t>
            </a:r>
          </a:p>
          <a:p>
            <a:endParaRPr lang="fr-FR" sz="3200" dirty="0">
              <a:latin typeface="Playfair Display" pitchFamily="2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>
                <a:latin typeface="Playfair Display" pitchFamily="2" charset="77"/>
              </a:rPr>
              <a:t>Base solide et modulaire permettant d’intégrer de futures extensions</a:t>
            </a:r>
          </a:p>
          <a:p>
            <a:pPr marL="1464734" lvl="2" indent="-457200" algn="just">
              <a:lnSpc>
                <a:spcPts val="6965"/>
              </a:lnSpc>
              <a:buFont typeface="Arial" panose="020B0604020202020204" pitchFamily="34" charset="0"/>
              <a:buChar char="•"/>
            </a:pPr>
            <a:endParaRPr lang="en-US" sz="3200" b="1" spc="31" dirty="0">
              <a:solidFill>
                <a:srgbClr val="000000"/>
              </a:solidFill>
              <a:latin typeface="Playfair Display" pitchFamily="2" charset="77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76801" y="1530470"/>
            <a:ext cx="15163799" cy="1051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Conclusion et </a:t>
            </a:r>
            <a:r>
              <a:rPr lang="en-US" sz="6399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niveau</a:t>
            </a:r>
            <a:r>
              <a:rPr lang="en-US" sz="6399" b="1" dirty="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6399" b="1" dirty="0" err="1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d’achèvement</a:t>
            </a:r>
            <a:endParaRPr lang="en-US" sz="6399" b="1" dirty="0">
              <a:solidFill>
                <a:srgbClr val="000000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3AFE6D-05A9-C951-9FC4-B3A97230A5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7										2025</a:t>
            </a:r>
          </a:p>
        </p:txBody>
      </p:sp>
      <p:pic>
        <p:nvPicPr>
          <p:cNvPr id="10" name="Image 9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EA211421-D23F-4CDE-024D-6E3BF568F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  <p:pic>
        <p:nvPicPr>
          <p:cNvPr id="13" name="Image 12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767FA778-FEC4-BFEE-0354-3F273FADB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4071" y="2301029"/>
            <a:ext cx="5684941" cy="5684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5478957-EA01-480D-1D1D-70626B0B4A50}"/>
              </a:ext>
            </a:extLst>
          </p:cNvPr>
          <p:cNvSpPr txBox="1"/>
          <p:nvPr/>
        </p:nvSpPr>
        <p:spPr>
          <a:xfrm>
            <a:off x="0" y="1524000"/>
            <a:ext cx="18288000" cy="7239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r>
              <a:rPr lang="fr-CA" sz="15000" dirty="0">
                <a:latin typeface="Playfair Display" pitchFamily="2" charset="77"/>
              </a:rPr>
              <a:t>MERCI</a:t>
            </a:r>
            <a:r>
              <a:rPr lang="fr-CA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28F964-36B5-13CE-9D98-B1EF8D0957D2}"/>
              </a:ext>
            </a:extLst>
          </p:cNvPr>
          <p:cNvSpPr txBox="1"/>
          <p:nvPr/>
        </p:nvSpPr>
        <p:spPr>
          <a:xfrm>
            <a:off x="6853950" y="5143500"/>
            <a:ext cx="4580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latin typeface="Playfair Display" pitchFamily="2" charset="77"/>
              </a:rPr>
              <a:t>POUR VOTRE ATTENTION </a:t>
            </a:r>
          </a:p>
        </p:txBody>
      </p:sp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1C275042-16F2-33F6-D03E-06884F28E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2" y="221510"/>
            <a:ext cx="2429483" cy="80670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950213E-CFD9-3C96-634B-DCE768C73B41}"/>
              </a:ext>
            </a:extLst>
          </p:cNvPr>
          <p:cNvSpPr txBox="1"/>
          <p:nvPr/>
        </p:nvSpPr>
        <p:spPr>
          <a:xfrm>
            <a:off x="128266" y="9726424"/>
            <a:ext cx="1813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Playfair Display" pitchFamily="2" charset="77"/>
              </a:rPr>
              <a:t>L3-I-groupeB3								 8										2025</a:t>
            </a:r>
          </a:p>
        </p:txBody>
      </p:sp>
    </p:spTree>
    <p:extLst>
      <p:ext uri="{BB962C8B-B14F-4D97-AF65-F5344CB8AC3E}">
        <p14:creationId xmlns:p14="http://schemas.microsoft.com/office/powerpoint/2010/main" val="205347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626</Words>
  <Application>Microsoft Macintosh PowerPoint</Application>
  <PresentationFormat>Personnalisé</PresentationFormat>
  <Paragraphs>101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Playfair Display Bold</vt:lpstr>
      <vt:lpstr>Playfair Display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professionnel marketing sobre élégant minimaliste blanc noir</dc:title>
  <cp:lastModifiedBy>Dania Hamitouche</cp:lastModifiedBy>
  <cp:revision>10</cp:revision>
  <dcterms:created xsi:type="dcterms:W3CDTF">2006-08-16T00:00:00Z</dcterms:created>
  <dcterms:modified xsi:type="dcterms:W3CDTF">2025-12-11T22:05:01Z</dcterms:modified>
  <dc:identifier>DAGbRaU4KPI</dc:identifier>
</cp:coreProperties>
</file>